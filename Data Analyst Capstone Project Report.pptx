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5"/>
  </p:notesMasterIdLst>
  <p:sldIdLst>
    <p:sldId id="256" r:id="rId5"/>
    <p:sldId id="257" r:id="rId6"/>
    <p:sldId id="258" r:id="rId7"/>
    <p:sldId id="259" r:id="rId8"/>
    <p:sldId id="260" r:id="rId9"/>
    <p:sldId id="278" r:id="rId10"/>
    <p:sldId id="274" r:id="rId11"/>
    <p:sldId id="275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/>
  <p:notesSz cx="6858000" cy="1857375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B49"/>
    <a:srgbClr val="E76F39"/>
    <a:srgbClr val="0072C3"/>
    <a:srgbClr val="007D79"/>
    <a:srgbClr val="D02670"/>
    <a:srgbClr val="231F20"/>
    <a:srgbClr val="33B1FF"/>
    <a:srgbClr val="262626"/>
    <a:srgbClr val="525252"/>
    <a:srgbClr val="BE9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13" autoAdjust="0"/>
    <p:restoredTop sz="91480" autoAdjust="0"/>
  </p:normalViewPr>
  <p:slideViewPr>
    <p:cSldViewPr snapToGrid="0">
      <p:cViewPr varScale="1">
        <p:scale>
          <a:sx n="99" d="100"/>
          <a:sy n="99" d="100"/>
        </p:scale>
        <p:origin x="72" y="84"/>
      </p:cViewPr>
      <p:guideLst>
        <p:guide orient="horz" pos="744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05/06/26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05161552-D656-B925-AB2F-4CA5F6FE7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377BDD-6725-68B2-639C-E47C9B4601F2}"/>
              </a:ext>
            </a:extLst>
          </p:cNvPr>
          <p:cNvSpPr/>
          <p:nvPr userDrawn="1"/>
        </p:nvSpPr>
        <p:spPr>
          <a:xfrm>
            <a:off x="12625444" y="2728308"/>
            <a:ext cx="1235879" cy="1235878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771CE0-19C9-5FCF-1B71-ACF36DEE6664}"/>
              </a:ext>
            </a:extLst>
          </p:cNvPr>
          <p:cNvSpPr/>
          <p:nvPr userDrawn="1"/>
        </p:nvSpPr>
        <p:spPr>
          <a:xfrm>
            <a:off x="18071881" y="2728308"/>
            <a:ext cx="1235879" cy="1235878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A3F44-3AAC-9557-E214-F323108F6B65}"/>
              </a:ext>
            </a:extLst>
          </p:cNvPr>
          <p:cNvSpPr/>
          <p:nvPr userDrawn="1"/>
        </p:nvSpPr>
        <p:spPr>
          <a:xfrm>
            <a:off x="14440923" y="2728308"/>
            <a:ext cx="1235879" cy="1235878"/>
          </a:xfrm>
          <a:prstGeom prst="rect">
            <a:avLst/>
          </a:prstGeom>
          <a:solidFill>
            <a:srgbClr val="FF7EB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#FF7EB6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EA0613-E945-E437-C733-F9F008F63B76}"/>
              </a:ext>
            </a:extLst>
          </p:cNvPr>
          <p:cNvSpPr/>
          <p:nvPr userDrawn="1"/>
        </p:nvSpPr>
        <p:spPr>
          <a:xfrm>
            <a:off x="16256402" y="2728308"/>
            <a:ext cx="1235879" cy="1235878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C5687-C25A-A73E-5192-674F560F89FA}"/>
              </a:ext>
            </a:extLst>
          </p:cNvPr>
          <p:cNvSpPr txBox="1"/>
          <p:nvPr userDrawn="1"/>
        </p:nvSpPr>
        <p:spPr>
          <a:xfrm>
            <a:off x="12602453" y="391242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F4021-33FE-506B-3C0D-688FEF669647}"/>
              </a:ext>
            </a:extLst>
          </p:cNvPr>
          <p:cNvSpPr txBox="1"/>
          <p:nvPr userDrawn="1"/>
        </p:nvSpPr>
        <p:spPr>
          <a:xfrm>
            <a:off x="14334144" y="391242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6B112C-C780-5B47-83AA-D580E668C866}"/>
              </a:ext>
            </a:extLst>
          </p:cNvPr>
          <p:cNvSpPr txBox="1"/>
          <p:nvPr userDrawn="1"/>
        </p:nvSpPr>
        <p:spPr>
          <a:xfrm>
            <a:off x="16404771" y="3912427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FC597-9201-21C6-383D-67750826F14D}"/>
              </a:ext>
            </a:extLst>
          </p:cNvPr>
          <p:cNvSpPr txBox="1"/>
          <p:nvPr userDrawn="1"/>
        </p:nvSpPr>
        <p:spPr>
          <a:xfrm>
            <a:off x="18206642" y="3912427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4A6D56-917B-72D3-81F7-A59A36FC4198}"/>
              </a:ext>
            </a:extLst>
          </p:cNvPr>
          <p:cNvSpPr/>
          <p:nvPr userDrawn="1"/>
        </p:nvSpPr>
        <p:spPr>
          <a:xfrm>
            <a:off x="12625444" y="4418033"/>
            <a:ext cx="1235879" cy="1235878"/>
          </a:xfrm>
          <a:prstGeom prst="rect">
            <a:avLst/>
          </a:prstGeom>
          <a:solidFill>
            <a:srgbClr val="8A3FFC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#8A3FFC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512372-0859-45E3-8DD7-AE730B4AFD19}"/>
              </a:ext>
            </a:extLst>
          </p:cNvPr>
          <p:cNvSpPr/>
          <p:nvPr userDrawn="1"/>
        </p:nvSpPr>
        <p:spPr>
          <a:xfrm>
            <a:off x="18071881" y="4418033"/>
            <a:ext cx="1235879" cy="1235878"/>
          </a:xfrm>
          <a:prstGeom prst="rect">
            <a:avLst/>
          </a:prstGeom>
          <a:solidFill>
            <a:srgbClr val="0072C3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#0072C3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197D57-5F46-DB39-F81D-9205CC53189F}"/>
              </a:ext>
            </a:extLst>
          </p:cNvPr>
          <p:cNvSpPr/>
          <p:nvPr userDrawn="1"/>
        </p:nvSpPr>
        <p:spPr>
          <a:xfrm>
            <a:off x="14440923" y="4418033"/>
            <a:ext cx="1235879" cy="1235878"/>
          </a:xfrm>
          <a:prstGeom prst="rect">
            <a:avLst/>
          </a:prstGeom>
          <a:solidFill>
            <a:srgbClr val="D0267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#D02670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0AA9B1-D6E7-98E2-49EF-C98B6F0E7E2F}"/>
              </a:ext>
            </a:extLst>
          </p:cNvPr>
          <p:cNvSpPr/>
          <p:nvPr userDrawn="1"/>
        </p:nvSpPr>
        <p:spPr>
          <a:xfrm>
            <a:off x="16256402" y="4418033"/>
            <a:ext cx="1235879" cy="1235878"/>
          </a:xfrm>
          <a:prstGeom prst="rect">
            <a:avLst/>
          </a:prstGeom>
          <a:solidFill>
            <a:srgbClr val="007D7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#007D79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A9DFA7-88D2-04F7-451C-7A2C388B178F}"/>
              </a:ext>
            </a:extLst>
          </p:cNvPr>
          <p:cNvSpPr txBox="1"/>
          <p:nvPr userDrawn="1"/>
        </p:nvSpPr>
        <p:spPr>
          <a:xfrm>
            <a:off x="12602453" y="5602152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C98F8E-1DCD-3647-3613-DFFC7CDFF372}"/>
              </a:ext>
            </a:extLst>
          </p:cNvPr>
          <p:cNvSpPr txBox="1"/>
          <p:nvPr userDrawn="1"/>
        </p:nvSpPr>
        <p:spPr>
          <a:xfrm>
            <a:off x="14334144" y="5602152"/>
            <a:ext cx="144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9F1073-373D-249D-C1F2-A527EB0210C9}"/>
              </a:ext>
            </a:extLst>
          </p:cNvPr>
          <p:cNvSpPr txBox="1"/>
          <p:nvPr userDrawn="1"/>
        </p:nvSpPr>
        <p:spPr>
          <a:xfrm>
            <a:off x="16404771" y="560215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2B31A-8903-A616-B756-B8695FC8F38A}"/>
              </a:ext>
            </a:extLst>
          </p:cNvPr>
          <p:cNvSpPr txBox="1"/>
          <p:nvPr userDrawn="1"/>
        </p:nvSpPr>
        <p:spPr>
          <a:xfrm>
            <a:off x="18206642" y="5602152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92CDF-E500-AD18-C0DB-5405AF35ADE4}"/>
              </a:ext>
            </a:extLst>
          </p:cNvPr>
          <p:cNvSpPr/>
          <p:nvPr userDrawn="1"/>
        </p:nvSpPr>
        <p:spPr>
          <a:xfrm>
            <a:off x="19512379" y="2712316"/>
            <a:ext cx="1267863" cy="1267862"/>
          </a:xfrm>
          <a:prstGeom prst="rect">
            <a:avLst/>
          </a:prstGeom>
          <a:solidFill>
            <a:srgbClr val="12161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FFFFFF"/>
                </a:solidFill>
                <a:effectLst/>
                <a:latin typeface="IBM Plex Mono" panose="020B0509050203000203" pitchFamily="49" charset="0"/>
              </a:rPr>
              <a:t>000000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CF072D-B1FC-4829-B71E-556F57965D46}"/>
              </a:ext>
            </a:extLst>
          </p:cNvPr>
          <p:cNvSpPr/>
          <p:nvPr userDrawn="1"/>
        </p:nvSpPr>
        <p:spPr>
          <a:xfrm>
            <a:off x="19510690" y="4403963"/>
            <a:ext cx="1264019" cy="1264018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262626"/>
                </a:solidFill>
                <a:effectLst/>
                <a:latin typeface="IBM Plex Mono" panose="020B0509050203000203" pitchFamily="49" charset="0"/>
              </a:rPr>
              <a:t>FFFFFF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8BBA60-CCFF-F95A-ECC9-46204EA2214B}"/>
              </a:ext>
            </a:extLst>
          </p:cNvPr>
          <p:cNvSpPr/>
          <p:nvPr userDrawn="1"/>
        </p:nvSpPr>
        <p:spPr>
          <a:xfrm>
            <a:off x="12625444" y="1072749"/>
            <a:ext cx="1235879" cy="1235878"/>
          </a:xfrm>
          <a:prstGeom prst="rect">
            <a:avLst/>
          </a:prstGeom>
          <a:solidFill>
            <a:srgbClr val="F6F2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#F6F2FF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F05CFF-A449-FBB3-5F13-F7A72C2E43DE}"/>
              </a:ext>
            </a:extLst>
          </p:cNvPr>
          <p:cNvSpPr/>
          <p:nvPr userDrawn="1"/>
        </p:nvSpPr>
        <p:spPr>
          <a:xfrm>
            <a:off x="18071881" y="1072749"/>
            <a:ext cx="1235879" cy="1235878"/>
          </a:xfrm>
          <a:prstGeom prst="rect">
            <a:avLst/>
          </a:prstGeom>
          <a:solidFill>
            <a:srgbClr val="E5F6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#E5F6FF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895BC4-B52A-2D00-62C1-71A44604BBB4}"/>
              </a:ext>
            </a:extLst>
          </p:cNvPr>
          <p:cNvSpPr/>
          <p:nvPr userDrawn="1"/>
        </p:nvSpPr>
        <p:spPr>
          <a:xfrm>
            <a:off x="14440923" y="1072749"/>
            <a:ext cx="1235879" cy="1235878"/>
          </a:xfrm>
          <a:prstGeom prst="rect">
            <a:avLst/>
          </a:prstGeom>
          <a:solidFill>
            <a:srgbClr val="FFF0F7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#FFF0F7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B5B6C5-97CB-45FD-FDEC-1F5C2A0BDC3E}"/>
              </a:ext>
            </a:extLst>
          </p:cNvPr>
          <p:cNvSpPr/>
          <p:nvPr userDrawn="1"/>
        </p:nvSpPr>
        <p:spPr>
          <a:xfrm>
            <a:off x="16256402" y="1072749"/>
            <a:ext cx="1235879" cy="1235878"/>
          </a:xfrm>
          <a:prstGeom prst="rect">
            <a:avLst/>
          </a:prstGeom>
          <a:solidFill>
            <a:srgbClr val="D9FBFB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#D9FBFB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DCC439-D448-E0FC-26EF-94C7A8B8D0DB}"/>
              </a:ext>
            </a:extLst>
          </p:cNvPr>
          <p:cNvSpPr txBox="1"/>
          <p:nvPr userDrawn="1"/>
        </p:nvSpPr>
        <p:spPr>
          <a:xfrm>
            <a:off x="12602453" y="2256868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4B7B48-2E66-50BA-96FE-D24C4E60BFD7}"/>
              </a:ext>
            </a:extLst>
          </p:cNvPr>
          <p:cNvSpPr txBox="1"/>
          <p:nvPr userDrawn="1"/>
        </p:nvSpPr>
        <p:spPr>
          <a:xfrm>
            <a:off x="14334144" y="225686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767BF-EB72-86A2-DBA6-0D26C6C02894}"/>
              </a:ext>
            </a:extLst>
          </p:cNvPr>
          <p:cNvSpPr txBox="1"/>
          <p:nvPr userDrawn="1"/>
        </p:nvSpPr>
        <p:spPr>
          <a:xfrm>
            <a:off x="16404771" y="2256868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EDF829-6CB0-F03B-E025-85D510B4DC26}"/>
              </a:ext>
            </a:extLst>
          </p:cNvPr>
          <p:cNvSpPr txBox="1"/>
          <p:nvPr userDrawn="1"/>
        </p:nvSpPr>
        <p:spPr>
          <a:xfrm>
            <a:off x="18206642" y="2256868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F97BF5-A64D-02F2-4B04-BC95CE39DF3F}"/>
              </a:ext>
            </a:extLst>
          </p:cNvPr>
          <p:cNvSpPr/>
          <p:nvPr userDrawn="1"/>
        </p:nvSpPr>
        <p:spPr>
          <a:xfrm>
            <a:off x="16222135" y="-2341897"/>
            <a:ext cx="1267863" cy="1267862"/>
          </a:xfrm>
          <a:prstGeom prst="rect">
            <a:avLst/>
          </a:prstGeom>
          <a:solidFill>
            <a:srgbClr val="C1C7CD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#C1C7CD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738F9B-27C5-3C49-8FD7-0731EE9AC3BF}"/>
              </a:ext>
            </a:extLst>
          </p:cNvPr>
          <p:cNvSpPr/>
          <p:nvPr userDrawn="1"/>
        </p:nvSpPr>
        <p:spPr>
          <a:xfrm>
            <a:off x="16222135" y="-801901"/>
            <a:ext cx="1267863" cy="1267862"/>
          </a:xfrm>
          <a:prstGeom prst="rect">
            <a:avLst/>
          </a:prstGeom>
          <a:solidFill>
            <a:srgbClr val="F2F4F8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#F2F4F8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194F16-D83C-3057-9151-A884EA8F0931}"/>
              </a:ext>
            </a:extLst>
          </p:cNvPr>
          <p:cNvSpPr/>
          <p:nvPr userDrawn="1"/>
        </p:nvSpPr>
        <p:spPr>
          <a:xfrm>
            <a:off x="14397282" y="-2352139"/>
            <a:ext cx="1267863" cy="1267862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C7A661-0FF9-B849-2771-84AA24CF5EFF}"/>
              </a:ext>
            </a:extLst>
          </p:cNvPr>
          <p:cNvSpPr/>
          <p:nvPr userDrawn="1"/>
        </p:nvSpPr>
        <p:spPr>
          <a:xfrm>
            <a:off x="14397282" y="-812143"/>
            <a:ext cx="1267863" cy="1267862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4675A9-3F9A-460D-D8D6-C5D9516859D4}"/>
              </a:ext>
            </a:extLst>
          </p:cNvPr>
          <p:cNvSpPr/>
          <p:nvPr userDrawn="1"/>
        </p:nvSpPr>
        <p:spPr>
          <a:xfrm>
            <a:off x="12572429" y="-2309174"/>
            <a:ext cx="1267863" cy="1267862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8C7787-7D0E-ED5D-DB99-53C4B52AA8F2}"/>
              </a:ext>
            </a:extLst>
          </p:cNvPr>
          <p:cNvSpPr/>
          <p:nvPr userDrawn="1"/>
        </p:nvSpPr>
        <p:spPr>
          <a:xfrm>
            <a:off x="12572429" y="-769178"/>
            <a:ext cx="1267863" cy="1267862"/>
          </a:xfrm>
          <a:prstGeom prst="rect">
            <a:avLst/>
          </a:prstGeom>
          <a:solidFill>
            <a:srgbClr val="78A9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#78A9FF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CCBF62-5F94-E366-51BD-6C8DCBF90955}"/>
              </a:ext>
            </a:extLst>
          </p:cNvPr>
          <p:cNvSpPr/>
          <p:nvPr userDrawn="1"/>
        </p:nvSpPr>
        <p:spPr>
          <a:xfrm>
            <a:off x="17993876" y="-2309174"/>
            <a:ext cx="1267863" cy="1267862"/>
          </a:xfrm>
          <a:prstGeom prst="rect">
            <a:avLst/>
          </a:prstGeom>
          <a:solidFill>
            <a:srgbClr val="52525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Labels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#525252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880850-0EBA-AD14-E6FD-BB1DC94F3DA5}"/>
              </a:ext>
            </a:extLst>
          </p:cNvPr>
          <p:cNvSpPr/>
          <p:nvPr userDrawn="1"/>
        </p:nvSpPr>
        <p:spPr>
          <a:xfrm>
            <a:off x="17993875" y="-812143"/>
            <a:ext cx="1267863" cy="1267862"/>
          </a:xfrm>
          <a:prstGeom prst="rect">
            <a:avLst/>
          </a:prstGeom>
          <a:solidFill>
            <a:srgbClr val="26262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Text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#262626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6209ACE-A4F7-EAC9-E98F-D141BE77F99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FEE4105-67FB-F40B-E7BD-8C9B80C32F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>
              <a:extLst>
                <a:ext uri="{FF2B5EF4-FFF2-40B4-BE49-F238E27FC236}">
                  <a16:creationId xmlns:a16="http://schemas.microsoft.com/office/drawing/2014/main" id="{9AB2407C-B3E2-DCDD-0692-DD32E3C4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>
              <a:extLst>
                <a:ext uri="{FF2B5EF4-FFF2-40B4-BE49-F238E27FC236}">
                  <a16:creationId xmlns:a16="http://schemas.microsoft.com/office/drawing/2014/main" id="{9128FFA9-E729-6051-FE44-5C57854D2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>
              <a:extLst>
                <a:ext uri="{FF2B5EF4-FFF2-40B4-BE49-F238E27FC236}">
                  <a16:creationId xmlns:a16="http://schemas.microsoft.com/office/drawing/2014/main" id="{21D1BE07-55D7-FEB6-D90F-FC214DFBD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>
            <a:extLst>
              <a:ext uri="{FF2B5EF4-FFF2-40B4-BE49-F238E27FC236}">
                <a16:creationId xmlns:a16="http://schemas.microsoft.com/office/drawing/2014/main" id="{FD0E63E5-36ED-0A5F-F2A0-E31AD11555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>
            <a:extLst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8.xml"/><Relationship Id="rId3" Type="http://schemas.openxmlformats.org/officeDocument/2006/relationships/image" Target="../media/image6.png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10.png"/><Relationship Id="rId10" Type="http://schemas.openxmlformats.org/officeDocument/2006/relationships/customXml" Target="../ink/ink5.xml"/><Relationship Id="rId4" Type="http://schemas.openxmlformats.org/officeDocument/2006/relationships/customXml" Target="../ink/ink1.xml"/><Relationship Id="rId9" Type="http://schemas.openxmlformats.org/officeDocument/2006/relationships/image" Target="../media/image11.png"/><Relationship Id="rId14" Type="http://schemas.openxmlformats.org/officeDocument/2006/relationships/customXml" Target="../ink/ink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162"/>
            <a:ext cx="10515600" cy="611620"/>
          </a:xfrm>
        </p:spPr>
        <p:txBody>
          <a:bodyPr anchor="ctr">
            <a:noAutofit/>
          </a:bodyPr>
          <a:lstStyle/>
          <a:p>
            <a:r>
              <a:rPr sz="2800" b="1"/>
              <a:t>Stack Overflow Developer Survey:
Technology Trends &amp; 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6B8D-2BAC-11F8-7D28-B631D08C8D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800" b="1" dirty="0"/>
              <a:t>Hanieh Asghari Oskoei</a:t>
            </a:r>
          </a:p>
          <a:p>
            <a:r>
              <a:rPr sz="1300" dirty="0"/>
              <a:t>May 3, 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3E2C-8982-861D-BE1D-3E30E5CC4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811" y="1600200"/>
            <a:ext cx="5038015" cy="4572000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3BC838-B25A-D37F-BC71-DD617895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EC79264-7E04-A135-9158-F7EF333AC3D8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639434-C7DB-C6DD-28C9-5FE3588C5BC8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200" dirty="0"/>
              <a:t>Executive Summary</a:t>
            </a:r>
          </a:p>
          <a:p>
            <a:pPr algn="just"/>
            <a:r>
              <a:rPr lang="en-US" sz="2200" dirty="0"/>
              <a:t>Introduction</a:t>
            </a:r>
          </a:p>
          <a:p>
            <a:pPr algn="just"/>
            <a:r>
              <a:rPr lang="en-US" sz="2200" dirty="0"/>
              <a:t>Methodology</a:t>
            </a:r>
          </a:p>
          <a:p>
            <a:pPr algn="just"/>
            <a:r>
              <a:rPr lang="en-US" sz="2200" dirty="0"/>
              <a:t>Results</a:t>
            </a:r>
          </a:p>
          <a:p>
            <a:pPr lvl="1" algn="just"/>
            <a:r>
              <a:rPr lang="en-US" sz="1800" dirty="0"/>
              <a:t>Visualization – Charts</a:t>
            </a:r>
          </a:p>
          <a:p>
            <a:pPr lvl="1" algn="just"/>
            <a:r>
              <a:rPr lang="en-US" sz="1800" dirty="0"/>
              <a:t>Dashboard</a:t>
            </a:r>
          </a:p>
          <a:p>
            <a:pPr algn="just"/>
            <a:r>
              <a:rPr lang="en-US" sz="2200" dirty="0"/>
              <a:t>Discussion</a:t>
            </a:r>
          </a:p>
          <a:p>
            <a:pPr lvl="1" algn="just"/>
            <a:r>
              <a:rPr lang="en-US" sz="1800" dirty="0"/>
              <a:t>Findings &amp; Implications</a:t>
            </a:r>
          </a:p>
          <a:p>
            <a:pPr algn="just"/>
            <a:r>
              <a:rPr lang="en-US" sz="2200" dirty="0"/>
              <a:t>Conclusion</a:t>
            </a:r>
          </a:p>
          <a:p>
            <a:pPr algn="just"/>
            <a:r>
              <a:rPr lang="en-US" sz="2200" dirty="0"/>
              <a:t>Appendix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8120" y="782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88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5324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4109-938A-7A63-C3A8-FDDB5C799EA5}"/>
              </a:ext>
            </a:extLst>
          </p:cNvPr>
          <p:cNvSpPr txBox="1">
            <a:spLocks/>
          </p:cNvSpPr>
          <p:nvPr/>
        </p:nvSpPr>
        <p:spPr>
          <a:xfrm>
            <a:off x="4389349" y="1630528"/>
            <a:ext cx="7068725" cy="4465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sz="1600" dirty="0">
                <a:latin typeface="Calibri"/>
              </a:rPr>
              <a:t>This report analyzes the Stack Overflow Developer Survey to uncover global technology trends across programming languages, databases, platforms, web frameworks, and developer demographics.</a:t>
            </a:r>
          </a:p>
          <a:p>
            <a:pPr marL="0" indent="0" algn="just">
              <a:buNone/>
            </a:pPr>
            <a:r>
              <a:rPr sz="1600" b="1" dirty="0">
                <a:latin typeface="Calibri"/>
              </a:rPr>
              <a:t>Key Findings:</a:t>
            </a:r>
          </a:p>
          <a:p>
            <a:pPr algn="just"/>
            <a:r>
              <a:rPr sz="1300" dirty="0">
                <a:latin typeface="Calibri"/>
              </a:rPr>
              <a:t>JavaScript is the most widely used language (14,943 respondents) and remains the most desired for the year ahead.</a:t>
            </a:r>
          </a:p>
          <a:p>
            <a:pPr algn="just"/>
            <a:r>
              <a:rPr sz="1300" dirty="0">
                <a:latin typeface="Calibri"/>
              </a:rPr>
              <a:t>PostgreSQL dominates both current (11,514) and desired (12,193) database use, widening its lead over MySQL.</a:t>
            </a:r>
          </a:p>
          <a:p>
            <a:pPr algn="just"/>
            <a:r>
              <a:rPr sz="1300" dirty="0">
                <a:latin typeface="Calibri"/>
              </a:rPr>
              <a:t>AWS is the leading cloud platform; React and Node.js dominate web frameworks.</a:t>
            </a:r>
          </a:p>
          <a:p>
            <a:pPr algn="just"/>
            <a:r>
              <a:rPr sz="1300" dirty="0">
                <a:latin typeface="Calibri"/>
              </a:rPr>
              <a:t>C tops job postings (13,498), with Java (2,609) and Python (1,173) rounding out the top three technologies in employer demand.</a:t>
            </a:r>
          </a:p>
          <a:p>
            <a:pPr algn="just"/>
            <a:r>
              <a:rPr sz="1300" dirty="0">
                <a:latin typeface="Calibri"/>
              </a:rPr>
              <a:t>Swift commands the highest average salary at $130,801, followed by Python ($114,383).</a:t>
            </a:r>
          </a:p>
          <a:p>
            <a:pPr algn="just"/>
            <a:r>
              <a:rPr sz="1300" dirty="0">
                <a:latin typeface="Calibri"/>
              </a:rPr>
              <a:t>Developers skew young: 41.3% are aged 25–34, and most hold a Bachelor's degree.</a:t>
            </a:r>
          </a:p>
          <a:p>
            <a:pPr algn="just"/>
            <a:r>
              <a:rPr sz="1300" dirty="0">
                <a:latin typeface="Calibri"/>
              </a:rPr>
              <a:t>Go and Rust are emerging as the next-generation languages developers want to learn.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795A9-FE70-B337-8B17-B79ACA60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26" y="2136507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6FB0-8465-86A8-332A-32CC35A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C879F-E713-B75A-D2DE-0953EB0E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47" y="2262036"/>
            <a:ext cx="3054361" cy="305436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35578F-30C9-4905-FD4E-7366FEFAEA7F}"/>
              </a:ext>
            </a:extLst>
          </p:cNvPr>
          <p:cNvSpPr txBox="1">
            <a:spLocks/>
          </p:cNvSpPr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sz="1300" b="1" dirty="0">
                <a:solidFill>
                  <a:schemeClr val="tx1"/>
                </a:solidFill>
              </a:rPr>
              <a:t>Purpose:</a:t>
            </a:r>
            <a:endParaRPr lang="en-US" sz="2200" dirty="0">
              <a:solidFill>
                <a:schemeClr val="tx1"/>
              </a:solidFill>
            </a:endParaRPr>
          </a:p>
          <a:p>
            <a:pPr algn="just"/>
            <a:r>
              <a:rPr sz="1200" dirty="0">
                <a:solidFill>
                  <a:schemeClr val="tx1"/>
                </a:solidFill>
              </a:rPr>
              <a:t>To analyze the Stack Overflow Developer Survey and identify technology adoption trends, salary benchmarks, and future skill demands relevant to the tech industry.</a:t>
            </a:r>
          </a:p>
          <a:p>
            <a:pPr algn="just"/>
            <a:endParaRPr sz="12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sz="1300" b="1" dirty="0">
                <a:solidFill>
                  <a:schemeClr val="tx1"/>
                </a:solidFill>
              </a:rPr>
              <a:t>Target Audience:</a:t>
            </a:r>
          </a:p>
          <a:p>
            <a:pPr algn="just"/>
            <a:r>
              <a:rPr sz="1200" dirty="0">
                <a:solidFill>
                  <a:schemeClr val="tx1"/>
                </a:solidFill>
              </a:rPr>
              <a:t>HR professionals, hiring managers, technology strategists, and business analytics stakeholders seeking data-driven insights on workforce and technology planning.</a:t>
            </a:r>
          </a:p>
          <a:p>
            <a:pPr algn="just"/>
            <a:endParaRPr sz="12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sz="1300" b="1" dirty="0">
                <a:solidFill>
                  <a:schemeClr val="tx1"/>
                </a:solidFill>
              </a:rPr>
              <a:t>Data Source:</a:t>
            </a:r>
          </a:p>
          <a:p>
            <a:pPr algn="just"/>
            <a:r>
              <a:rPr sz="1200" dirty="0">
                <a:solidFill>
                  <a:schemeClr val="tx1"/>
                </a:solidFill>
              </a:rPr>
              <a:t>Stack Overflow Developer Survey — one of the largest annual surveys of developers worldwide, covering languages, databases, platforms, salary, and demographics.</a:t>
            </a:r>
          </a:p>
          <a:p>
            <a:pPr algn="just"/>
            <a:endParaRPr sz="12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sz="1300" b="1" dirty="0">
                <a:solidFill>
                  <a:schemeClr val="tx1"/>
                </a:solidFill>
              </a:rPr>
              <a:t>Value of the Analysis:</a:t>
            </a:r>
          </a:p>
          <a:p>
            <a:pPr algn="just"/>
            <a:r>
              <a:rPr sz="1200" dirty="0">
                <a:solidFill>
                  <a:schemeClr val="tx1"/>
                </a:solidFill>
              </a:rPr>
              <a:t>Enables organizations to align hiring strategies, technology investments, and training programs with real-world developer trends and future market demands.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86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CFD-8450-17AD-05D4-229BA1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681037"/>
            <a:ext cx="10571747" cy="685799"/>
          </a:xfrm>
        </p:spPr>
        <p:txBody>
          <a:bodyPr anchor="ctr"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8C842-232A-AE37-3471-90353781809D}"/>
              </a:ext>
            </a:extLst>
          </p:cNvPr>
          <p:cNvSpPr txBox="1">
            <a:spLocks/>
          </p:cNvSpPr>
          <p:nvPr/>
        </p:nvSpPr>
        <p:spPr>
          <a:xfrm>
            <a:off x="4285075" y="1680153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sz="1200" b="1" dirty="0">
                <a:latin typeface="Calibri"/>
              </a:rPr>
              <a:t>Data Sources:</a:t>
            </a:r>
          </a:p>
          <a:p>
            <a:pPr algn="just"/>
            <a:r>
              <a:rPr sz="1200" dirty="0">
                <a:latin typeface="Calibri"/>
              </a:rPr>
              <a:t>Stack Overflow Developer Survey (primary — survey_data_updated.csv)</a:t>
            </a:r>
          </a:p>
          <a:p>
            <a:pPr algn="just"/>
            <a:r>
              <a:rPr sz="1200" dirty="0">
                <a:latin typeface="Calibri"/>
              </a:rPr>
              <a:t>Job postings collected via Jobs API (job-postings-by-technology.xlsx)</a:t>
            </a:r>
          </a:p>
          <a:p>
            <a:pPr algn="just"/>
            <a:r>
              <a:rPr sz="1200" dirty="0">
                <a:latin typeface="Calibri"/>
              </a:rPr>
              <a:t>Programming language salary data via web scraping (popular-languages.csv)</a:t>
            </a:r>
          </a:p>
          <a:p>
            <a:pPr marL="0" indent="0" algn="just">
              <a:buNone/>
            </a:pPr>
            <a:r>
              <a:rPr sz="1200" b="1" dirty="0">
                <a:latin typeface="Calibri"/>
              </a:rPr>
              <a:t>Data Collection:</a:t>
            </a:r>
          </a:p>
          <a:p>
            <a:pPr algn="just"/>
            <a:r>
              <a:rPr sz="1200" dirty="0">
                <a:latin typeface="Calibri"/>
              </a:rPr>
              <a:t>Used Python requests and </a:t>
            </a:r>
            <a:r>
              <a:rPr sz="1200" dirty="0" err="1">
                <a:latin typeface="Calibri"/>
              </a:rPr>
              <a:t>BeautifulSoup</a:t>
            </a:r>
            <a:r>
              <a:rPr sz="1200" dirty="0">
                <a:latin typeface="Calibri"/>
              </a:rPr>
              <a:t> to scrape salary data; called the Jobs API to retrieve posting counts by technology.</a:t>
            </a:r>
          </a:p>
          <a:p>
            <a:pPr marL="0" indent="0" algn="just">
              <a:buNone/>
            </a:pPr>
            <a:r>
              <a:rPr sz="1200" b="1" dirty="0">
                <a:latin typeface="Calibri"/>
              </a:rPr>
              <a:t>Data Wrangling:</a:t>
            </a:r>
          </a:p>
          <a:p>
            <a:pPr algn="just"/>
            <a:r>
              <a:rPr sz="1200" dirty="0">
                <a:latin typeface="Calibri"/>
              </a:rPr>
              <a:t>Removed duplicate records to ensure data integrity</a:t>
            </a:r>
          </a:p>
          <a:p>
            <a:pPr algn="just"/>
            <a:r>
              <a:rPr sz="1200" dirty="0">
                <a:latin typeface="Calibri"/>
              </a:rPr>
              <a:t>Imputed missing values using median and mode strategies</a:t>
            </a:r>
          </a:p>
          <a:p>
            <a:pPr algn="just"/>
            <a:r>
              <a:rPr sz="1200" dirty="0">
                <a:latin typeface="Calibri"/>
              </a:rPr>
              <a:t>Normalized data formats (e.g., salary strings converted to numeric)</a:t>
            </a:r>
          </a:p>
          <a:p>
            <a:pPr algn="just"/>
            <a:r>
              <a:rPr sz="1200" dirty="0">
                <a:latin typeface="Calibri"/>
              </a:rPr>
              <a:t>Aggregated top 10 categories per dimension (languages, databases, platforms, web frameworks)</a:t>
            </a:r>
          </a:p>
          <a:p>
            <a:pPr algn="just"/>
            <a:r>
              <a:rPr sz="1200" dirty="0">
                <a:latin typeface="Calibri"/>
              </a:rPr>
              <a:t>Exported cleaned subsets to CSV files used in dashboards and charts</a:t>
            </a:r>
          </a:p>
          <a:p>
            <a:pPr marL="0" indent="0" algn="just">
              <a:buNone/>
            </a:pPr>
            <a:r>
              <a:rPr sz="1200" b="1" dirty="0">
                <a:latin typeface="Calibri"/>
              </a:rPr>
              <a:t>Analysis &amp; Visualization:</a:t>
            </a:r>
          </a:p>
          <a:p>
            <a:pPr algn="just"/>
            <a:r>
              <a:rPr sz="1200" dirty="0">
                <a:latin typeface="Calibri"/>
              </a:rPr>
              <a:t>Performed exploratory data analysis on distribution, outliers, and correlations</a:t>
            </a:r>
          </a:p>
          <a:p>
            <a:pPr algn="just"/>
            <a:r>
              <a:rPr sz="1200" dirty="0">
                <a:latin typeface="Calibri"/>
              </a:rPr>
              <a:t>Built bar, pie, line, scatter, bubble, box, and stacked charts in Python</a:t>
            </a:r>
          </a:p>
          <a:p>
            <a:pPr algn="just"/>
            <a:r>
              <a:rPr sz="1200" dirty="0">
                <a:latin typeface="Calibri"/>
              </a:rPr>
              <a:t>Created an interactive 3-tab dashboard in Google Looker Studio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CF71F-8A03-DAC7-4BC2-F05644ECB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169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47B35-92B8-C737-3DEB-4A57887A1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9CC39-D393-D59D-E066-37C17FD3C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98033"/>
            <a:ext cx="10571747" cy="1091735"/>
          </a:xfrm>
        </p:spPr>
        <p:txBody>
          <a:bodyPr anchor="ctr">
            <a:normAutofit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0DDB6-5B82-F3F8-80C1-FE555825BAF5}"/>
              </a:ext>
            </a:extLst>
          </p:cNvPr>
          <p:cNvSpPr txBox="1">
            <a:spLocks/>
          </p:cNvSpPr>
          <p:nvPr/>
        </p:nvSpPr>
        <p:spPr>
          <a:xfrm>
            <a:off x="4285075" y="1680153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/>
          </a:p>
        </p:txBody>
      </p:sp>
      <p:pic>
        <p:nvPicPr>
          <p:cNvPr id="6" name="Graphic 5" descr="Presentation with pie chart with solid fill">
            <a:extLst>
              <a:ext uri="{FF2B5EF4-FFF2-40B4-BE49-F238E27FC236}">
                <a16:creationId xmlns:a16="http://schemas.microsoft.com/office/drawing/2014/main" id="{1D5615A7-55B9-E0F5-0A84-57A35A57B0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468" y="2101175"/>
            <a:ext cx="2972979" cy="29729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6D1E5C-FB56-616C-9776-6EF59DA07045}"/>
              </a:ext>
            </a:extLst>
          </p:cNvPr>
          <p:cNvSpPr txBox="1"/>
          <p:nvPr/>
        </p:nvSpPr>
        <p:spPr>
          <a:xfrm>
            <a:off x="3818965" y="3126000"/>
            <a:ext cx="74133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600" dirty="0">
                <a:latin typeface="Calibri"/>
              </a:rPr>
              <a:t>The following slides translate the cleaned data into visual insights — covering job market signals, programming language trends, salary benchmarks, and database preferences across the developer community.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1327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4E31-32FC-4A23-CEF9-98F0BB9F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334EF5D-2E2A-7FE5-06C6-01ACAB1F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845" y="383051"/>
            <a:ext cx="5833456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 JOB POSTINGS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F79416-0AFB-FC80-07E8-3CF2B4E7E798}"/>
              </a:ext>
            </a:extLst>
          </p:cNvPr>
          <p:cNvSpPr txBox="1">
            <a:spLocks/>
          </p:cNvSpPr>
          <p:nvPr/>
        </p:nvSpPr>
        <p:spPr>
          <a:xfrm>
            <a:off x="914400" y="2191385"/>
            <a:ext cx="3089709" cy="36030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sz="1400" b="1" dirty="0">
                <a:latin typeface="Calibri"/>
              </a:rPr>
              <a:t>C leads with 13,498 job postings — nearly 5x more than Java (2,609). Python ranks 3rd with 1,173 postings, reflecting strong cross-industry demand across data science, automation, and enterprise development.</a:t>
            </a:r>
          </a:p>
        </p:txBody>
      </p:sp>
      <p:pic>
        <p:nvPicPr>
          <p:cNvPr id="11" name="Picture 10" descr="chart_job_pos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4109" y="2191385"/>
            <a:ext cx="7273491" cy="411110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35373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B558-7141-B0CE-D399-712C1073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2CF5900-71B3-70B0-7CF1-4A1C535AD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536" y="383051"/>
            <a:ext cx="57087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POPULAR LANGUAGES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5B1AABA-34AF-B1F5-3C7F-11AEB9E03637}"/>
              </a:ext>
            </a:extLst>
          </p:cNvPr>
          <p:cNvSpPr txBox="1">
            <a:spLocks/>
          </p:cNvSpPr>
          <p:nvPr/>
        </p:nvSpPr>
        <p:spPr>
          <a:xfrm>
            <a:off x="878305" y="2191385"/>
            <a:ext cx="2567539" cy="34105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sz="1400" b="1" dirty="0">
                <a:latin typeface="Calibri"/>
              </a:rPr>
              <a:t>Swift commands the highest average salary at $130,801, followed by Python ($114,383) and C++ ($113,865). PHP and SQL sit at the bottom of the salary range despite being among the most widely deployed languages — high demand doesn't always translate to high pay.</a:t>
            </a:r>
          </a:p>
        </p:txBody>
      </p:sp>
      <p:pic>
        <p:nvPicPr>
          <p:cNvPr id="8" name="Picture 7" descr="chart_popular_langu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5844" y="1815703"/>
            <a:ext cx="7363327" cy="41618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45902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7A2E-C667-F6D3-A1E3-47F70603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9A591-4DF0-3912-FF72-3FD0BD7B9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 TRENDS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DFAC5CF-1B58-ABB4-D63B-1D931D572459}"/>
              </a:ext>
            </a:extLst>
          </p:cNvPr>
          <p:cNvSpPr txBox="1">
            <a:spLocks/>
          </p:cNvSpPr>
          <p:nvPr/>
        </p:nvSpPr>
        <p:spPr>
          <a:xfrm>
            <a:off x="845473" y="2605804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BAA9DB0-9EAC-9B25-C7F3-3CE83758128E}"/>
              </a:ext>
            </a:extLst>
          </p:cNvPr>
          <p:cNvSpPr txBox="1">
            <a:spLocks/>
          </p:cNvSpPr>
          <p:nvPr/>
        </p:nvSpPr>
        <p:spPr>
          <a:xfrm>
            <a:off x="6172200" y="2605804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1C5862-9AB9-9679-23B5-A950E973AFB5}"/>
              </a:ext>
            </a:extLst>
          </p:cNvPr>
          <p:cNvSpPr txBox="1"/>
          <p:nvPr/>
        </p:nvSpPr>
        <p:spPr>
          <a:xfrm>
            <a:off x="924305" y="1417320"/>
            <a:ext cx="10751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sz="1400" b="1" dirty="0">
                <a:latin typeface="Calibri"/>
              </a:rPr>
              <a:t>JavaScript, SQL, and Python hold the top positions in both years. Go and Rust enter the desired top 10 — replacing Bash/Shell and PowerShell — signaling growing developer interest in performance-oriented systems languages.</a:t>
            </a:r>
          </a:p>
        </p:txBody>
      </p:sp>
      <p:pic>
        <p:nvPicPr>
          <p:cNvPr id="12" name="Picture 11" descr="chart_lang_cur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107" y="2251207"/>
            <a:ext cx="4297680" cy="3840480"/>
          </a:xfrm>
          <a:prstGeom prst="rect">
            <a:avLst/>
          </a:prstGeom>
        </p:spPr>
      </p:pic>
      <p:pic>
        <p:nvPicPr>
          <p:cNvPr id="13" name="Picture 12" descr="chart_lang_n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567" y="2251207"/>
            <a:ext cx="4297680" cy="38404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84467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F14-48B4-018D-63EE-DF24A5A8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4DA4-C4B2-2A92-8A96-C527D8D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065" y="218209"/>
            <a:ext cx="11471562" cy="1330037"/>
          </a:xfrm>
        </p:spPr>
        <p:txBody>
          <a:bodyPr>
            <a:noAutofit/>
          </a:bodyPr>
          <a:lstStyle/>
          <a:p>
            <a:r>
              <a:rPr lang="en-US" dirty="0"/>
              <a:t>PROGRAMMING LANGUAGE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5DDBB-31B7-4F81-1E76-90009348F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sz="1400" b="1" dirty="0"/>
              <a:t>Findings</a:t>
            </a:r>
          </a:p>
          <a:p>
            <a:pPr algn="just"/>
            <a:endParaRPr sz="1400" b="1" dirty="0"/>
          </a:p>
          <a:p>
            <a:pPr marL="342900" indent="-342900" algn="just">
              <a:buFont typeface="+mj-lt"/>
              <a:buAutoNum type="arabicPeriod"/>
            </a:pPr>
            <a:r>
              <a:rPr sz="1400" dirty="0"/>
              <a:t>JavaScript remains the #1 language for both current and desired use, cementing its role as the dominant full-stack language.</a:t>
            </a:r>
          </a:p>
          <a:p>
            <a:pPr marL="342900" indent="-342900" algn="just">
              <a:buFont typeface="+mj-lt"/>
              <a:buAutoNum type="arabicPeriod"/>
            </a:pPr>
            <a:endParaRPr sz="1400" dirty="0"/>
          </a:p>
          <a:p>
            <a:pPr marL="342900" indent="-342900" algn="just">
              <a:buFont typeface="+mj-lt"/>
              <a:buAutoNum type="arabicPeriod"/>
            </a:pPr>
            <a:r>
              <a:rPr sz="1400" dirty="0"/>
              <a:t>TypeScript is rising fast — moving from #4 currently to #3 desired — reflecting a shift toward typed, scalable JavaScript development.</a:t>
            </a:r>
          </a:p>
          <a:p>
            <a:pPr marL="342900" indent="-342900" algn="just">
              <a:buFont typeface="+mj-lt"/>
              <a:buAutoNum type="arabicPeriod"/>
            </a:pPr>
            <a:endParaRPr sz="1400" dirty="0"/>
          </a:p>
          <a:p>
            <a:pPr marL="342900" indent="-342900" algn="just">
              <a:buFont typeface="+mj-lt"/>
              <a:buAutoNum type="arabicPeriod"/>
            </a:pPr>
            <a:r>
              <a:rPr sz="1400" dirty="0"/>
              <a:t>Go and Rust enter the desired top 10 but are absent from the current top 10, indicating growing interest in performance-oriented systems languages.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166E7F-5223-7C98-EBC0-E8FA35940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sz="1400" b="1" dirty="0"/>
              <a:t>Implications</a:t>
            </a:r>
          </a:p>
          <a:p>
            <a:pPr algn="just"/>
            <a:endParaRPr sz="1400" b="1" dirty="0"/>
          </a:p>
          <a:p>
            <a:pPr marL="342900" indent="-342900" algn="just">
              <a:buFont typeface="+mj-lt"/>
              <a:buAutoNum type="arabicPeriod"/>
            </a:pPr>
            <a:r>
              <a:rPr sz="1400" dirty="0"/>
              <a:t>Organizations should prioritize JavaScript/TypeScript in hiring and training programs — developer demand will only increase.</a:t>
            </a:r>
          </a:p>
          <a:p>
            <a:pPr marL="342900" indent="-342900" algn="just">
              <a:buFont typeface="+mj-lt"/>
              <a:buAutoNum type="arabicPeriod"/>
            </a:pPr>
            <a:endParaRPr sz="1400" dirty="0"/>
          </a:p>
          <a:p>
            <a:pPr marL="342900" indent="-342900" algn="just">
              <a:buFont typeface="+mj-lt"/>
              <a:buAutoNum type="arabicPeriod"/>
            </a:pPr>
            <a:r>
              <a:rPr sz="1400" dirty="0"/>
              <a:t>Investing in Go and Rust skills now provides competitive advantage as these languages move toward mainstream enterprise adoption.</a:t>
            </a:r>
          </a:p>
          <a:p>
            <a:pPr marL="342900" indent="-342900" algn="just">
              <a:buFont typeface="+mj-lt"/>
              <a:buAutoNum type="arabicPeriod"/>
            </a:pPr>
            <a:endParaRPr sz="1400" dirty="0"/>
          </a:p>
          <a:p>
            <a:pPr marL="342900" indent="-342900" algn="just">
              <a:buFont typeface="+mj-lt"/>
              <a:buAutoNum type="arabicPeriod"/>
            </a:pPr>
            <a:r>
              <a:rPr sz="1400" dirty="0"/>
              <a:t>SQL and Python's enduring presence underscores that data fluency remains a core requirement for developers across all disciplines.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1288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0F35-C02C-0C12-3664-049CAC5A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430B-2D6C-26E3-5D00-4D061A25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dirty="0"/>
              <a:t>DATABASE TRENDS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4E86EFD-B801-5996-879A-7A13CF75507C}"/>
              </a:ext>
            </a:extLst>
          </p:cNvPr>
          <p:cNvSpPr txBox="1">
            <a:spLocks/>
          </p:cNvSpPr>
          <p:nvPr/>
        </p:nvSpPr>
        <p:spPr>
          <a:xfrm>
            <a:off x="813816" y="275893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F288C39-3E30-44CF-06C3-D46763CC8E0C}"/>
              </a:ext>
            </a:extLst>
          </p:cNvPr>
          <p:cNvSpPr txBox="1">
            <a:spLocks/>
          </p:cNvSpPr>
          <p:nvPr/>
        </p:nvSpPr>
        <p:spPr>
          <a:xfrm>
            <a:off x="6172200" y="2695286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7A0CDF-0FE0-1DE3-5B09-44D4318623B8}"/>
              </a:ext>
            </a:extLst>
          </p:cNvPr>
          <p:cNvSpPr txBox="1"/>
          <p:nvPr/>
        </p:nvSpPr>
        <p:spPr>
          <a:xfrm>
            <a:off x="881252" y="1417320"/>
            <a:ext cx="1042949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sz="1400" b="1" dirty="0">
                <a:latin typeface="Calibri"/>
              </a:rPr>
              <a:t>PostgreSQL widens its lead from 11,514 to 12,193 in desired use. Redis surges from 6th to 2nd place — reflecting growing interest in caching and real-time data architectures. </a:t>
            </a:r>
            <a:r>
              <a:rPr sz="1400" b="1" dirty="0" err="1">
                <a:latin typeface="Calibri"/>
              </a:rPr>
              <a:t>Supabase</a:t>
            </a:r>
            <a:r>
              <a:rPr sz="1400" b="1" dirty="0">
                <a:latin typeface="Calibri"/>
              </a:rPr>
              <a:t> appears only in the desired list, signaling demand for modern open-source database alternatives.</a:t>
            </a:r>
          </a:p>
        </p:txBody>
      </p:sp>
      <p:pic>
        <p:nvPicPr>
          <p:cNvPr id="8" name="Picture 7" descr="chart_db_cur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450" y="2357278"/>
            <a:ext cx="4297680" cy="3840480"/>
          </a:xfrm>
          <a:prstGeom prst="rect">
            <a:avLst/>
          </a:prstGeom>
        </p:spPr>
      </p:pic>
      <p:pic>
        <p:nvPicPr>
          <p:cNvPr id="9" name="Picture 8" descr="chart_db_n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0834" y="2357278"/>
            <a:ext cx="4297680" cy="38404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2887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6A9C-70D0-119E-38BE-1738DA5A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7E2B-01DB-9C21-4CF2-1586AB1C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86" y="572944"/>
            <a:ext cx="11457214" cy="975302"/>
          </a:xfrm>
        </p:spPr>
        <p:txBody>
          <a:bodyPr>
            <a:normAutofit fontScale="90000"/>
          </a:bodyPr>
          <a:lstStyle/>
          <a:p>
            <a:r>
              <a:rPr lang="en-US" dirty="0"/>
              <a:t>DATABASE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EC42F-75A2-FA08-F2B6-EB2817BBF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sz="1400" b="1" dirty="0"/>
              <a:t>Findings</a:t>
            </a:r>
          </a:p>
          <a:p>
            <a:pPr algn="just"/>
            <a:endParaRPr sz="1400" b="1" dirty="0"/>
          </a:p>
          <a:p>
            <a:pPr marL="342900" indent="-342900" algn="just">
              <a:buFont typeface="+mj-lt"/>
              <a:buAutoNum type="arabicPeriod"/>
            </a:pPr>
            <a:r>
              <a:rPr sz="1400" dirty="0"/>
              <a:t>PostgreSQL is the most used and most desired database, reflecting its strong reputation for reliability, open-source flexibility, and modern features.</a:t>
            </a:r>
          </a:p>
          <a:p>
            <a:pPr marL="342900" indent="-342900" algn="just">
              <a:buFont typeface="+mj-lt"/>
              <a:buAutoNum type="arabicPeriod"/>
            </a:pPr>
            <a:endParaRPr sz="1400" dirty="0"/>
          </a:p>
          <a:p>
            <a:pPr marL="342900" indent="-342900" algn="just">
              <a:buFont typeface="+mj-lt"/>
              <a:buAutoNum type="arabicPeriod"/>
            </a:pPr>
            <a:r>
              <a:rPr sz="1400" dirty="0"/>
              <a:t>Redis surges from 6th (current) to 2nd (desired), signaling a major shift toward caching and real-time data processing architectures.</a:t>
            </a:r>
          </a:p>
          <a:p>
            <a:pPr marL="342900" indent="-342900" algn="just">
              <a:buFont typeface="+mj-lt"/>
              <a:buAutoNum type="arabicPeriod"/>
            </a:pPr>
            <a:endParaRPr sz="1400" dirty="0"/>
          </a:p>
          <a:p>
            <a:pPr marL="342900" indent="-342900" algn="just">
              <a:buFont typeface="+mj-lt"/>
              <a:buAutoNum type="arabicPeriod"/>
            </a:pPr>
            <a:r>
              <a:rPr sz="1400" dirty="0" err="1"/>
              <a:t>Supabase</a:t>
            </a:r>
            <a:r>
              <a:rPr sz="1400" dirty="0"/>
              <a:t> appears only in the desired list, pointing to growing developer interest in open-source, modern Firebase alternatives.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7B10A-E9C3-5B71-0345-782E28BDB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sz="1400" b="1" dirty="0"/>
              <a:t>Implications</a:t>
            </a:r>
          </a:p>
          <a:p>
            <a:pPr marL="0" indent="0" algn="just">
              <a:buNone/>
            </a:pPr>
            <a:endParaRPr sz="1400" b="1" dirty="0"/>
          </a:p>
          <a:p>
            <a:pPr marL="342900" indent="-342900" algn="just">
              <a:buFont typeface="+mj-lt"/>
              <a:buAutoNum type="arabicPeriod"/>
            </a:pPr>
            <a:r>
              <a:rPr sz="1400" dirty="0"/>
              <a:t>PostgreSQL expertise should be a hiring priority — it leads current usage and is the #1 database developers want to work with going forward.</a:t>
            </a:r>
          </a:p>
          <a:p>
            <a:pPr marL="342900" indent="-342900" algn="just">
              <a:buFont typeface="+mj-lt"/>
              <a:buAutoNum type="arabicPeriod"/>
            </a:pPr>
            <a:endParaRPr sz="1400" dirty="0"/>
          </a:p>
          <a:p>
            <a:pPr marL="342900" indent="-342900" algn="just">
              <a:buFont typeface="+mj-lt"/>
              <a:buAutoNum type="arabicPeriod"/>
            </a:pPr>
            <a:r>
              <a:rPr sz="1400" dirty="0"/>
              <a:t>Redis skills are increasingly valuable, especially for engineering teams building real-time apps, microservices, and high-performance systems.</a:t>
            </a:r>
          </a:p>
          <a:p>
            <a:pPr marL="342900" indent="-342900" algn="just">
              <a:buFont typeface="+mj-lt"/>
              <a:buAutoNum type="arabicPeriod"/>
            </a:pPr>
            <a:endParaRPr sz="1400" dirty="0"/>
          </a:p>
          <a:p>
            <a:pPr marL="342900" indent="-342900" algn="just">
              <a:buFont typeface="+mj-lt"/>
              <a:buAutoNum type="arabicPeriod"/>
            </a:pPr>
            <a:r>
              <a:rPr sz="1400" dirty="0"/>
              <a:t>Emerging tools like </a:t>
            </a:r>
            <a:r>
              <a:rPr sz="1400" dirty="0" err="1"/>
              <a:t>Supabase</a:t>
            </a:r>
            <a:r>
              <a:rPr sz="1400" dirty="0"/>
              <a:t> represent early-adoption opportunities, particularly for startups and modern web development teams.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8125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291F-E27C-74F8-33D3-FF131FC9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7D73-872E-CFE8-1C38-8422F3838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64183-B387-01E7-21BA-4DA6B1F51815}"/>
              </a:ext>
            </a:extLst>
          </p:cNvPr>
          <p:cNvSpPr txBox="1">
            <a:spLocks/>
          </p:cNvSpPr>
          <p:nvPr/>
        </p:nvSpPr>
        <p:spPr>
          <a:xfrm>
            <a:off x="4285075" y="3142210"/>
            <a:ext cx="7068725" cy="25692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/>
              <a:buNone/>
            </a:pPr>
            <a:r>
              <a:rPr sz="1600" dirty="0"/>
              <a:t>The following slides present interactive dashboards built in Google Looker Studio using the Stack Overflow Developer Survey data. Three dashboard tabs cover: Current Technology Usage, Future Technology Trends, and Developer Demographics.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822F7-4A79-5E92-9C6D-8A9769182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75" y="1901819"/>
            <a:ext cx="3054361" cy="30543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5219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F0CA-55D1-0835-20D4-03D017A1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3914-A678-A34E-C52A-16D0ADAA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582" y="365125"/>
            <a:ext cx="11087100" cy="985693"/>
          </a:xfrm>
        </p:spPr>
        <p:txBody>
          <a:bodyPr anchor="ctr">
            <a:noAutofit/>
          </a:bodyPr>
          <a:lstStyle/>
          <a:p>
            <a:r>
              <a:rPr lang="en-US" dirty="0"/>
              <a:t>DASHBOARD TAB 1: Current Technology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6FB03-F857-3EC0-249E-AE03F39150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0" y="1783080"/>
            <a:ext cx="3708935" cy="475488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sz="1600" b="1" dirty="0">
                <a:latin typeface="Calibri"/>
              </a:rPr>
              <a:t>Dashboard Insight</a:t>
            </a:r>
          </a:p>
          <a:p>
            <a:pPr algn="just"/>
            <a:r>
              <a:rPr sz="1600" dirty="0">
                <a:latin typeface="Calibri"/>
              </a:rPr>
              <a:t>JavaScript dominates language usage (14,943 users)</a:t>
            </a:r>
          </a:p>
          <a:p>
            <a:pPr algn="just"/>
            <a:r>
              <a:rPr sz="1600" dirty="0">
                <a:latin typeface="Calibri"/>
              </a:rPr>
              <a:t>PostgreSQL leads databases (11,514)</a:t>
            </a:r>
          </a:p>
          <a:p>
            <a:pPr algn="just"/>
            <a:r>
              <a:rPr sz="1600" dirty="0">
                <a:latin typeface="Calibri"/>
              </a:rPr>
              <a:t>AWS is the top cloud platform — well ahead of Azure and Google Cloud</a:t>
            </a:r>
          </a:p>
          <a:p>
            <a:pPr algn="just"/>
            <a:r>
              <a:rPr sz="1600" dirty="0">
                <a:latin typeface="Calibri"/>
              </a:rPr>
              <a:t>Node.js and React lead web framework adoption</a:t>
            </a:r>
          </a:p>
        </p:txBody>
      </p:sp>
      <p:pic>
        <p:nvPicPr>
          <p:cNvPr id="4" name="Picture 3" descr="dash_cur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202" y="1600200"/>
            <a:ext cx="6858000" cy="47548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9736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F23D-B8D7-D0E4-EDC5-E0F02388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933A-3681-3D82-68EF-62EC0782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364" y="531380"/>
            <a:ext cx="11055926" cy="1016866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DASHBOARD TAB 2: Future Technology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60BF9-AB8D-4916-3BC9-E2E92E0872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5200" y="1783080"/>
            <a:ext cx="4468090" cy="452004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sz="1600" b="1" dirty="0">
                <a:latin typeface="Calibri"/>
              </a:rPr>
              <a:t>Future Trends</a:t>
            </a:r>
          </a:p>
          <a:p>
            <a:pPr algn="just"/>
            <a:r>
              <a:rPr sz="1600" dirty="0">
                <a:latin typeface="Calibri"/>
              </a:rPr>
              <a:t>JavaScript and SQL remain the top desired languages</a:t>
            </a:r>
          </a:p>
          <a:p>
            <a:pPr algn="just"/>
            <a:r>
              <a:rPr sz="1600" dirty="0">
                <a:latin typeface="Calibri"/>
              </a:rPr>
              <a:t>PostgreSQL widens its lead as the most desired database</a:t>
            </a:r>
          </a:p>
          <a:p>
            <a:pPr algn="just"/>
            <a:r>
              <a:rPr sz="1600" dirty="0">
                <a:latin typeface="Calibri"/>
              </a:rPr>
              <a:t>AWS dominates desired cloud platforms; Cloudflare and Google Cloud growing</a:t>
            </a:r>
          </a:p>
          <a:p>
            <a:pPr algn="just"/>
            <a:r>
              <a:rPr sz="1600" dirty="0">
                <a:latin typeface="Calibri"/>
              </a:rPr>
              <a:t>React overtakes Node.js as the most desired web framework</a:t>
            </a:r>
          </a:p>
          <a:p>
            <a:pPr algn="just"/>
            <a:r>
              <a:rPr sz="1600" dirty="0">
                <a:latin typeface="Calibri"/>
              </a:rPr>
              <a:t>Go and Rust gain significant future interest</a:t>
            </a:r>
          </a:p>
        </p:txBody>
      </p:sp>
      <p:pic>
        <p:nvPicPr>
          <p:cNvPr id="4" name="Picture 3" descr="dash_fu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10" y="1548246"/>
            <a:ext cx="6858000" cy="47548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48496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10D3-267F-7A90-5160-775BFEBC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0C82-5F1A-F7B1-2C56-5C08240C1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DASHBOARD TAB 3: Demographics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61A98-8DF3-E66E-19C4-7D7642551E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5200" y="1783080"/>
            <a:ext cx="4572000" cy="45720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sz="1600" b="1" dirty="0">
                <a:latin typeface="Calibri"/>
              </a:rPr>
              <a:t>Demographic Insights</a:t>
            </a:r>
          </a:p>
          <a:p>
            <a:pPr algn="just"/>
            <a:r>
              <a:rPr sz="1600" dirty="0">
                <a:latin typeface="Calibri"/>
              </a:rPr>
              <a:t>41.3% of respondents are aged 25–34; 27.3% are 35–44</a:t>
            </a:r>
          </a:p>
          <a:p>
            <a:pPr algn="just"/>
            <a:r>
              <a:rPr sz="1600" dirty="0">
                <a:latin typeface="Calibri"/>
              </a:rPr>
              <a:t>Top contributing countries: US, India, and Germany</a:t>
            </a:r>
          </a:p>
          <a:p>
            <a:pPr algn="just"/>
            <a:r>
              <a:rPr sz="1600" dirty="0">
                <a:latin typeface="Calibri"/>
              </a:rPr>
              <a:t>Bachelor's degree is the most common education level, followed by Master's</a:t>
            </a:r>
          </a:p>
          <a:p>
            <a:pPr algn="just"/>
            <a:r>
              <a:rPr sz="1600" dirty="0">
                <a:latin typeface="Calibri"/>
              </a:rPr>
              <a:t>Education levels are broadly consistent across age groups</a:t>
            </a:r>
          </a:p>
        </p:txBody>
      </p:sp>
      <p:pic>
        <p:nvPicPr>
          <p:cNvPr id="4" name="Picture 3" descr="dash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499135"/>
            <a:ext cx="6858000" cy="47548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05636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2C0A-56EF-B349-A097-27B4D460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8769-531F-C6A5-406F-D1C3D2805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DISCUSSION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F45ECC1-C956-CADF-DDFD-F54C6608E4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43282" y="2348628"/>
            <a:ext cx="3054361" cy="3054361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7EF50-003F-6BB0-4367-42BB884C7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1155" y="1825625"/>
            <a:ext cx="6272645" cy="435133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sz="1400" b="1" dirty="0"/>
              <a:t>Cross-Dashboard Insights:</a:t>
            </a:r>
          </a:p>
          <a:p>
            <a:pPr algn="just"/>
            <a:endParaRPr sz="1400" b="1" dirty="0"/>
          </a:p>
          <a:p>
            <a:pPr marL="342900" indent="-342900" algn="just">
              <a:buFont typeface="+mj-lt"/>
              <a:buAutoNum type="arabicPeriod"/>
            </a:pPr>
            <a:r>
              <a:rPr sz="1400" dirty="0"/>
              <a:t>JavaScript Ecosystem is Unshakeable: Across current use, future demand, and salary data, JavaScript consistently dominates. Its versatility across frontend, backend, and full-stack roles makes it the industry's lingua franca.</a:t>
            </a:r>
          </a:p>
          <a:p>
            <a:pPr marL="342900" indent="-342900" algn="just">
              <a:buFont typeface="+mj-lt"/>
              <a:buAutoNum type="arabicPeriod"/>
            </a:pPr>
            <a:r>
              <a:rPr sz="1400" dirty="0"/>
              <a:t>Relational Databases Still Rule: PostgreSQL and MySQL remain most-used. Developers clearly still value structured, reliable SQL-based storage despite NoSQL growth.</a:t>
            </a:r>
          </a:p>
          <a:p>
            <a:pPr marL="342900" indent="-342900" algn="just">
              <a:buFont typeface="+mj-lt"/>
              <a:buAutoNum type="arabicPeriod"/>
            </a:pPr>
            <a:r>
              <a:rPr sz="1400" dirty="0"/>
              <a:t>Cloud-Native is the New Normal: AWS leads platform adoption by a wide margin. Cloud skills are now essential for all developers, not just DevOps specialists.</a:t>
            </a:r>
          </a:p>
          <a:p>
            <a:pPr marL="342900" indent="-342900" algn="just">
              <a:buFont typeface="+mj-lt"/>
              <a:buAutoNum type="arabicPeriod"/>
            </a:pPr>
            <a:r>
              <a:rPr sz="1400" dirty="0"/>
              <a:t>The Developer Workforce is Young and Educated: With 41.3% aged 25-34 and Bachelor's degrees most common, the industry is driven by a formally educated, relatively young workforce.</a:t>
            </a:r>
          </a:p>
          <a:p>
            <a:pPr marL="342900" indent="-342900" algn="just">
              <a:buFont typeface="+mj-lt"/>
              <a:buAutoNum type="arabicPeriod"/>
            </a:pPr>
            <a:r>
              <a:rPr sz="1400" dirty="0"/>
              <a:t>Performance Languages on the Rise: Go and Rust entering the desired top 10 signals growing interest in performance, memory safety, and concurrency — all critical for cloud-scale systems.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7333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5330-0589-A550-601A-037CA416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8902-AF46-DDE8-D792-7940E18A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6B89C-35B9-C514-4E9C-FCBE8D68D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sz="1400" b="1" dirty="0"/>
              <a:t>Findings</a:t>
            </a:r>
          </a:p>
          <a:p>
            <a:pPr algn="just"/>
            <a:endParaRPr sz="1400" b="1" dirty="0"/>
          </a:p>
          <a:p>
            <a:pPr marL="342900" indent="-342900" algn="just">
              <a:buFont typeface="+mj-lt"/>
              <a:buAutoNum type="arabicPeriod"/>
            </a:pPr>
            <a:r>
              <a:rPr sz="1400" dirty="0"/>
              <a:t>JavaScript is the single most dominant language — no other language matches its adoption breadth in current use or future desire.</a:t>
            </a:r>
          </a:p>
          <a:p>
            <a:pPr marL="342900" indent="-342900" algn="just">
              <a:buFont typeface="+mj-lt"/>
              <a:buAutoNum type="arabicPeriod"/>
            </a:pPr>
            <a:endParaRPr sz="1400" dirty="0"/>
          </a:p>
          <a:p>
            <a:pPr marL="342900" indent="-342900" algn="just">
              <a:buFont typeface="+mj-lt"/>
              <a:buAutoNum type="arabicPeriod"/>
            </a:pPr>
            <a:r>
              <a:rPr sz="1400" dirty="0"/>
              <a:t>PostgreSQL has overtaken traditional enterprise databases and is developers' top choice now and for the future.</a:t>
            </a:r>
          </a:p>
          <a:p>
            <a:pPr marL="342900" indent="-342900" algn="just">
              <a:buFont typeface="+mj-lt"/>
              <a:buAutoNum type="arabicPeriod"/>
            </a:pPr>
            <a:endParaRPr sz="1400" dirty="0"/>
          </a:p>
          <a:p>
            <a:pPr marL="342900" indent="-342900" algn="just">
              <a:buFont typeface="+mj-lt"/>
              <a:buAutoNum type="arabicPeriod"/>
            </a:pPr>
            <a:r>
              <a:rPr sz="1400" dirty="0"/>
              <a:t>C holds the most job postings globally (13,498), while Python and JavaScript are rapidly catching up in employer demand.</a:t>
            </a:r>
          </a:p>
          <a:p>
            <a:pPr marL="342900" indent="-342900" algn="just">
              <a:buFont typeface="+mj-lt"/>
              <a:buAutoNum type="arabicPeriod"/>
            </a:pPr>
            <a:endParaRPr sz="1400" dirty="0"/>
          </a:p>
          <a:p>
            <a:pPr marL="342900" indent="-342900" algn="just">
              <a:buFont typeface="+mj-lt"/>
              <a:buAutoNum type="arabicPeriod"/>
            </a:pPr>
            <a:r>
              <a:rPr sz="1400" dirty="0"/>
              <a:t>The developer community is young (25-34), educated, and concentrated in the US, India, and Germany.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BBA5A-826D-FFFD-F1BE-92269842D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sz="1400" b="1" dirty="0"/>
              <a:t>Implications</a:t>
            </a:r>
          </a:p>
          <a:p>
            <a:pPr algn="just"/>
            <a:endParaRPr sz="1400" b="1" dirty="0"/>
          </a:p>
          <a:p>
            <a:pPr marL="342900" indent="-342900" algn="just">
              <a:buFont typeface="+mj-lt"/>
              <a:buAutoNum type="arabicPeriod"/>
            </a:pPr>
            <a:r>
              <a:rPr sz="1400" dirty="0"/>
              <a:t>Companies should build JavaScript/TypeScript-first stacks to attract top talent and align with industry direction.</a:t>
            </a:r>
          </a:p>
          <a:p>
            <a:pPr marL="342900" indent="-342900" algn="just">
              <a:buFont typeface="+mj-lt"/>
              <a:buAutoNum type="arabicPeriod"/>
            </a:pPr>
            <a:endParaRPr sz="1400" dirty="0"/>
          </a:p>
          <a:p>
            <a:pPr marL="342900" indent="-342900" algn="just">
              <a:buFont typeface="+mj-lt"/>
              <a:buAutoNum type="arabicPeriod"/>
            </a:pPr>
            <a:r>
              <a:rPr sz="1400" dirty="0"/>
              <a:t>Migrating from legacy databases (Oracle, SQL Server) to PostgreSQL can reduce costs and improve developer satisfaction.</a:t>
            </a:r>
          </a:p>
          <a:p>
            <a:pPr marL="342900" indent="-342900" algn="just">
              <a:buFont typeface="+mj-lt"/>
              <a:buAutoNum type="arabicPeriod"/>
            </a:pPr>
            <a:endParaRPr sz="1400" dirty="0"/>
          </a:p>
          <a:p>
            <a:pPr marL="342900" indent="-342900" algn="just">
              <a:buFont typeface="+mj-lt"/>
              <a:buAutoNum type="arabicPeriod"/>
            </a:pPr>
            <a:r>
              <a:rPr sz="1400" dirty="0"/>
              <a:t>Salary benchmarking must account for language premiums — Swift, Python, and C++ developers command significantly higher pay.</a:t>
            </a:r>
          </a:p>
          <a:p>
            <a:pPr marL="342900" indent="-342900" algn="just">
              <a:buFont typeface="+mj-lt"/>
              <a:buAutoNum type="arabicPeriod"/>
            </a:pPr>
            <a:endParaRPr sz="1400" dirty="0"/>
          </a:p>
          <a:p>
            <a:pPr marL="342900" indent="-342900" algn="just">
              <a:buFont typeface="+mj-lt"/>
              <a:buAutoNum type="arabicPeriod"/>
            </a:pPr>
            <a:r>
              <a:rPr sz="1400" dirty="0"/>
              <a:t>Workforce programs targeting 18-24 year-olds represent a high-ROI investment as the next developer wave enters the market.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5637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A16F-6AB5-5C0B-5466-65B2A6AE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E978FF3-BC93-079A-1687-DD4786B81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pic>
        <p:nvPicPr>
          <p:cNvPr id="13" name="Content Placeholder 5">
            <a:extLst>
              <a:ext uri="{FF2B5EF4-FFF2-40B4-BE49-F238E27FC236}">
                <a16:creationId xmlns:a16="http://schemas.microsoft.com/office/drawing/2014/main" id="{CD985AE9-0D12-3398-B9B7-4395CABF17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25967" y="2113896"/>
            <a:ext cx="3054361" cy="3054361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E75918E-509D-16F8-F478-FA41759FEFE9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sz="1600" dirty="0"/>
              <a:t>Technology trends reveal a clear pattern: JavaScript, SQL, and Python are the foundational languages of modern software development — any organization ignoring these does so at its peril.</a:t>
            </a:r>
          </a:p>
          <a:p>
            <a:pPr algn="just"/>
            <a:endParaRPr sz="1600" dirty="0"/>
          </a:p>
          <a:p>
            <a:pPr algn="just"/>
            <a:r>
              <a:rPr sz="1600" dirty="0"/>
              <a:t>The database landscape is evolving rapidly — PostgreSQL leads and Redis is rising fast, reflecting developer priorities around performance, scalability, and open-source solutions.</a:t>
            </a:r>
          </a:p>
          <a:p>
            <a:pPr algn="just"/>
            <a:endParaRPr sz="1600" dirty="0"/>
          </a:p>
          <a:p>
            <a:pPr algn="just"/>
            <a:r>
              <a:rPr sz="1600" dirty="0"/>
              <a:t>Job market data confirms C and Java still power enterprise systems, while Python's growth reflects rising demand in data science, AI, and automation.</a:t>
            </a:r>
          </a:p>
          <a:p>
            <a:pPr algn="just"/>
            <a:endParaRPr sz="1600" dirty="0"/>
          </a:p>
          <a:p>
            <a:pPr algn="just"/>
            <a:r>
              <a:rPr sz="1600" dirty="0"/>
              <a:t>Organizations aligning their hiring, training, and technology strategies with these data-driven insights will be better positioned to attract top talent, build scalable systems, and make smarter business decisions.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0378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598F-DBE3-7B78-D1F9-0BA7F7DC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A3B939-6057-23B6-25B3-E33A2D205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APPENDIX</a:t>
            </a:r>
          </a:p>
        </p:txBody>
      </p:sp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E8E550E5-7A15-A106-D083-8C1433A790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55857" y="1849823"/>
            <a:ext cx="3194581" cy="3194581"/>
          </a:xfrm>
          <a:prstGeom prst="rect">
            <a:avLst/>
          </a:prstGeom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E40FF55-AE57-CB43-454D-CEFBE080CE8E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sz="1400" b="1" dirty="0"/>
              <a:t>Additional data and supporting analysis used in this report:</a:t>
            </a:r>
            <a:endParaRPr lang="en-US" sz="1400" dirty="0"/>
          </a:p>
          <a:p>
            <a:pPr algn="just"/>
            <a:endParaRPr lang="en-US" sz="1400" dirty="0"/>
          </a:p>
          <a:p>
            <a:pPr algn="just"/>
            <a:r>
              <a:rPr sz="1400" dirty="0"/>
              <a:t>Platform Usage: PlatformHaveWorkedWith_top10.csv and PlatformWantToWorkWith_top10.csv — showing AWS, Google Cloud, and Microsoft Azure as dominant current and desired platforms.</a:t>
            </a:r>
          </a:p>
          <a:p>
            <a:pPr algn="just"/>
            <a:endParaRPr sz="1400" dirty="0"/>
          </a:p>
          <a:p>
            <a:pPr algn="just"/>
            <a:r>
              <a:rPr sz="1400" dirty="0"/>
              <a:t>Web Frameworks: WebframeHaveWorkedWith_top10.csv and WebframeWantToWorkWith_top10.csv — Node.js and React lead both current and desired web framework usage.</a:t>
            </a:r>
          </a:p>
          <a:p>
            <a:pPr algn="just"/>
            <a:endParaRPr sz="1400" dirty="0"/>
          </a:p>
          <a:p>
            <a:pPr algn="just"/>
            <a:r>
              <a:rPr sz="1400" dirty="0"/>
              <a:t>Demographics: demographics.csv — complete age, education, country, and gender distributions across survey respondents.</a:t>
            </a:r>
          </a:p>
          <a:p>
            <a:pPr algn="just"/>
            <a:endParaRPr sz="1400" dirty="0"/>
          </a:p>
          <a:p>
            <a:pPr algn="just"/>
            <a:r>
              <a:rPr sz="1400" dirty="0"/>
              <a:t>Full Dataset: survey_data_updated.csv — the complete cleaned Stack Overflow Developer Survey dataset used as the basis for all analyses in this report.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01586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Skills Network PPT Template 01.2023.pptx" id="{565886F7-76CC-4370-877F-2511E1EB1B28}" vid="{AD061E48-3596-4052-9172-46F1919207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5445547-4CD8-432E-8B58-E443FD17F88F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DA07C5-A406-4A0D-B3E6-3856C94AC7F3}">
  <ds:schemaRefs>
    <ds:schemaRef ds:uri="155be751-a274-42e8-93fb-f39d3b9bccc8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80a141d-92ca-4d3d-9308-f7e7b1d44ce8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1717</Words>
  <Application>Microsoft Office PowerPoint</Application>
  <PresentationFormat>Widescreen</PresentationFormat>
  <Paragraphs>159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Helv</vt:lpstr>
      <vt:lpstr>IBM Plex Mono</vt:lpstr>
      <vt:lpstr>IBM Plex Sans</vt:lpstr>
      <vt:lpstr>IBM Plex Sans SemiBold</vt:lpstr>
      <vt:lpstr>SLIDE_TEMPLATE_skill_network</vt:lpstr>
      <vt:lpstr>Stack Overflow Developer Survey:
Technology Trends &amp; Insights</vt:lpstr>
      <vt:lpstr>PowerPoint Presentation</vt:lpstr>
      <vt:lpstr>EXECUTIVE SUMMARY</vt:lpstr>
      <vt:lpstr>INTRODUCTION</vt:lpstr>
      <vt:lpstr>METHODOLOGY</vt:lpstr>
      <vt:lpstr>Results</vt:lpstr>
      <vt:lpstr> JOB POSTINGS</vt:lpstr>
      <vt:lpstr>POPULAR LANGUAGES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DASHBOARD</vt:lpstr>
      <vt:lpstr>DASHBOARD TAB 1: Current Technology Usage</vt:lpstr>
      <vt:lpstr>DASHBOARD TAB 2: Future Technology Trends</vt:lpstr>
      <vt:lpstr>DASHBOARD TAB 3: Demographics</vt:lpstr>
      <vt:lpstr>DISCUSSION</vt:lpstr>
      <vt:lpstr>OVERALL FINDINGS &amp; IMPLICATIONS</vt:lpstr>
      <vt:lpstr>CONCLUSION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lastModifiedBy>Hannah Asghari</cp:lastModifiedBy>
  <cp:revision>6</cp:revision>
  <dcterms:created xsi:type="dcterms:W3CDTF">2024-10-30T05:40:03Z</dcterms:created>
  <dcterms:modified xsi:type="dcterms:W3CDTF">2026-05-07T04:03:18Z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